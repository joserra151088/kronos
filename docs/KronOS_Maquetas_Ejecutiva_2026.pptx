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CONTROL DE ASISTENCIA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0" y="1417320"/>
            <a:ext cx="9144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KronOS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0" y="269748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inteligente de asistencia y recursos humanos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0" y="4663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de Módulos · Marzo 2026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4617720"/>
            <a:ext cx="457200" cy="36576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4562856"/>
            <a:ext cx="365760" cy="36576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1480" y="4507992"/>
            <a:ext cx="274320" cy="36576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0" y="256032"/>
            <a:ext cx="658368" cy="310896"/>
          </a:xfrm>
          <a:prstGeom prst="rect">
            <a:avLst>
              <a:gd name="adj" fmla="val 17647"/>
            </a:avLst>
          </a:prstGeom>
          <a:solidFill>
            <a:srgbClr val="1E2A45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0" y="256032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v2.0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01168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 de la Presentación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11480" y="1088136"/>
            <a:ext cx="274320" cy="274320"/>
          </a:xfrm>
          <a:prstGeom prst="ellipse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08813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05156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🏠  Dashboard Principal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11480" y="1655064"/>
            <a:ext cx="274320" cy="274320"/>
          </a:xfrm>
          <a:prstGeom prst="ellipse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65506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77240" y="1618488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Registros de Asistencia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11480" y="2221992"/>
            <a:ext cx="274320" cy="274320"/>
          </a:xfrm>
          <a:prstGeom prst="ellipse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22219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2185416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Reportes y Analítica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2788920"/>
            <a:ext cx="274320" cy="274320"/>
          </a:xfrm>
          <a:prstGeom prst="ellipse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27889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2752344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 Calendario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11480" y="3355848"/>
            <a:ext cx="274320" cy="274320"/>
          </a:xfrm>
          <a:prstGeom prst="ellipse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33558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" y="3319272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🗺️  Mapa de Sucursales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800600" y="1088136"/>
            <a:ext cx="274320" cy="274320"/>
          </a:xfrm>
          <a:prstGeom prst="ellipse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108813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166360" y="105156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🌲  Organigrama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800600" y="1655064"/>
            <a:ext cx="274320" cy="274320"/>
          </a:xfrm>
          <a:prstGeom prst="ellipse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00600" y="165506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166360" y="1618488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Módulos de Administración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800600" y="2221992"/>
            <a:ext cx="274320" cy="274320"/>
          </a:xfrm>
          <a:prstGeom prst="ellipse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0600" y="22219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166360" y="2185416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Comunicados y Anuncios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800600" y="2788920"/>
            <a:ext cx="274320" cy="274320"/>
          </a:xfrm>
          <a:prstGeom prst="ellipse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00600" y="27889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166360" y="2752344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⚖️  KronOS vs RUNAHR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4800600" y="3355848"/>
            <a:ext cx="274320" cy="274320"/>
          </a:xfrm>
          <a:prstGeom prst="ellipse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33558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166360" y="3319272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 Análisis de Costos AWS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pic>
        <p:nvPicPr>
          <p:cNvPr id="3" name="Image 0" descr="C:\Users\JoseRamonEstradaRend\AppData\Roaming\Claude\local-agent-mode-sessions\skills-plugin\d7d799c7-c68d-4735-9f18-5020fbbe8e77\246afd61-2015-4905-b7d3-2bf63e539570\skills\pptx\screenshots\01_dashboar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502920"/>
            <a:ext cx="5303520" cy="4023360"/>
          </a:xfrm>
          <a:prstGeom prst="rect">
            <a:avLst/>
          </a:prstGeom>
          <a:effectLst>
            <a:outerShdw sx="100000" sy="100000" kx="0" ky="0" algn="bl" rotWithShape="0" blurRad="152400" dist="50800" dir="2700000">
              <a:srgbClr val="000000">
                <a:alpha val="55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5852160" y="566928"/>
            <a:ext cx="384048" cy="256032"/>
          </a:xfrm>
          <a:prstGeom prst="rect">
            <a:avLst>
              <a:gd name="adj" fmla="val 14286"/>
            </a:avLst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852160" y="566928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852160" y="877824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Principal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5852160" y="1536192"/>
            <a:ext cx="2971800" cy="0"/>
          </a:xfrm>
          <a:prstGeom prst="line">
            <a:avLst/>
          </a:prstGeom>
          <a:noFill/>
          <a:ln w="19050">
            <a:solidFill>
              <a:srgbClr val="4ADE8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852160" y="1645920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Vista personalizada de bienvenida por usuario y sucursal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852160" y="2304288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Progreso del día con los 4 pasos de registro (Entrada → Salida final)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852160" y="2962656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Panel lateral: Cumpleaños, Personal del día, Anuncios, Links frecuentes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852160" y="3621024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Notificaciones en tiempo real sobre registros pendientes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pic>
        <p:nvPicPr>
          <p:cNvPr id="3" name="Image 0" descr="C:\Users\JoseRamonEstradaRend\AppData\Roaming\Claude\local-agent-mode-sessions\skills-plugin\d7d799c7-c68d-4735-9f18-5020fbbe8e77\246afd61-2015-4905-b7d3-2bf63e539570\skills\pptx\screenshots\02_registro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502920"/>
            <a:ext cx="5303520" cy="4023360"/>
          </a:xfrm>
          <a:prstGeom prst="rect">
            <a:avLst/>
          </a:prstGeom>
          <a:effectLst>
            <a:outerShdw sx="100000" sy="100000" kx="0" ky="0" algn="bl" rotWithShape="0" blurRad="152400" dist="50800" dir="2700000">
              <a:srgbClr val="000000">
                <a:alpha val="55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5852160" y="566928"/>
            <a:ext cx="384048" cy="256032"/>
          </a:xfrm>
          <a:prstGeom prst="rect">
            <a:avLst>
              <a:gd name="adj" fmla="val 14286"/>
            </a:avLst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852160" y="566928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852160" y="877824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de Asistencia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5852160" y="1536192"/>
            <a:ext cx="2971800" cy="0"/>
          </a:xfrm>
          <a:prstGeom prst="line">
            <a:avLst/>
          </a:prstGeom>
          <a:noFill/>
          <a:ln w="19050">
            <a:solidFill>
              <a:srgbClr val="4ADE8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852160" y="1645920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Historial completo de entradas y salidas por sucursal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852160" y="2304288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Reporte del día con filtros por corporativo, fecha y empleado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852160" y="2962656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Registro manual de asistencia para casos especiales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852160" y="3621024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Exportación de datos para conciliación de nómina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pic>
        <p:nvPicPr>
          <p:cNvPr id="3" name="Image 0" descr="C:\Users\JoseRamonEstradaRend\AppData\Roaming\Claude\local-agent-mode-sessions\skills-plugin\d7d799c7-c68d-4735-9f18-5020fbbe8e77\246afd61-2015-4905-b7d3-2bf63e539570\skills\pptx\screenshots\03_report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502920"/>
            <a:ext cx="5303520" cy="4023360"/>
          </a:xfrm>
          <a:prstGeom prst="rect">
            <a:avLst/>
          </a:prstGeom>
          <a:effectLst>
            <a:outerShdw sx="100000" sy="100000" kx="0" ky="0" algn="bl" rotWithShape="0" blurRad="152400" dist="50800" dir="2700000">
              <a:srgbClr val="000000">
                <a:alpha val="55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5852160" y="566928"/>
            <a:ext cx="384048" cy="256032"/>
          </a:xfrm>
          <a:prstGeom prst="rect">
            <a:avLst>
              <a:gd name="adj" fmla="val 14286"/>
            </a:avLst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852160" y="566928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852160" y="877824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y Analítica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5852160" y="1536192"/>
            <a:ext cx="2971800" cy="0"/>
          </a:xfrm>
          <a:prstGeom prst="line">
            <a:avLst/>
          </a:prstGeom>
          <a:noFill/>
          <a:ln w="19050">
            <a:solidFill>
              <a:srgbClr val="4ADE8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852160" y="1645920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 tipos de reporte: Asistencia, Incidencias, Tiempo trabajado, Línea de tiempo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852160" y="2304288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Filtros por rango de fechas, sucursal y empleado específico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852160" y="2962656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Exportación a Excel para análisis externos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852160" y="3621024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Cálculo preciso de horas trabajadas y tiempos de descanso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pic>
        <p:nvPicPr>
          <p:cNvPr id="3" name="Image 0" descr="C:\Users\JoseRamonEstradaRend\AppData\Roaming\Claude\local-agent-mode-sessions\skills-plugin\d7d799c7-c68d-4735-9f18-5020fbbe8e77\246afd61-2015-4905-b7d3-2bf63e539570\skills\pptx\screenshots\04_calendari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502920"/>
            <a:ext cx="5303520" cy="4023360"/>
          </a:xfrm>
          <a:prstGeom prst="rect">
            <a:avLst/>
          </a:prstGeom>
          <a:effectLst>
            <a:outerShdw sx="100000" sy="100000" kx="0" ky="0" algn="bl" rotWithShape="0" blurRad="152400" dist="50800" dir="2700000">
              <a:srgbClr val="000000">
                <a:alpha val="55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5852160" y="566928"/>
            <a:ext cx="384048" cy="256032"/>
          </a:xfrm>
          <a:prstGeom prst="rect">
            <a:avLst>
              <a:gd name="adj" fmla="val 14286"/>
            </a:avLst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852160" y="566928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852160" y="877824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Calendario Laboral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5852160" y="1536192"/>
            <a:ext cx="2971800" cy="0"/>
          </a:xfrm>
          <a:prstGeom prst="line">
            <a:avLst/>
          </a:prstGeom>
          <a:noFill/>
          <a:ln w="19050">
            <a:solidFill>
              <a:srgbClr val="4ADE8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852160" y="1645920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Vista mensual de asistencias y ausencias por empleado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852160" y="2304288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Indicadores visuales por tipo de registro y estado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852160" y="2962656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Integración con horarios asignados y días festivos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852160" y="3621024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Identificación rápida de patrones de ausentismo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pic>
        <p:nvPicPr>
          <p:cNvPr id="3" name="Image 0" descr="C:\Users\JoseRamonEstradaRend\AppData\Roaming\Claude\local-agent-mode-sessions\skills-plugin\d7d799c7-c68d-4735-9f18-5020fbbe8e77\246afd61-2015-4905-b7d3-2bf63e539570\skills\pptx\screenshots\06_map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502920"/>
            <a:ext cx="5303520" cy="4023360"/>
          </a:xfrm>
          <a:prstGeom prst="rect">
            <a:avLst/>
          </a:prstGeom>
          <a:effectLst>
            <a:outerShdw sx="100000" sy="100000" kx="0" ky="0" algn="bl" rotWithShape="0" blurRad="152400" dist="50800" dir="2700000">
              <a:srgbClr val="000000">
                <a:alpha val="55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5852160" y="566928"/>
            <a:ext cx="384048" cy="256032"/>
          </a:xfrm>
          <a:prstGeom prst="rect">
            <a:avLst>
              <a:gd name="adj" fmla="val 14286"/>
            </a:avLst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852160" y="566928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852160" y="877824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de Sucursales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5852160" y="1536192"/>
            <a:ext cx="2971800" cy="0"/>
          </a:xfrm>
          <a:prstGeom prst="line">
            <a:avLst/>
          </a:prstGeom>
          <a:noFill/>
          <a:ln w="19050">
            <a:solidFill>
              <a:srgbClr val="4ADE8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852160" y="1645920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Visualización geográfica de todas las sucursales activas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852160" y="2304288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Información de contacto y datos operativos por ubicación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852160" y="2962656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Integración con GPS para verificación de ubicación en registro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852160" y="3621024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Vista consolidada de la red de sucursales de la organización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pic>
        <p:nvPicPr>
          <p:cNvPr id="3" name="Image 0" descr="C:\Users\JoseRamonEstradaRend\AppData\Roaming\Claude\local-agent-mode-sessions\skills-plugin\d7d799c7-c68d-4735-9f18-5020fbbe8e77\246afd61-2015-4905-b7d3-2bf63e539570\skills\pptx\screenshots\07_organigram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502920"/>
            <a:ext cx="5303520" cy="4023360"/>
          </a:xfrm>
          <a:prstGeom prst="rect">
            <a:avLst/>
          </a:prstGeom>
          <a:effectLst>
            <a:outerShdw sx="100000" sy="100000" kx="0" ky="0" algn="bl" rotWithShape="0" blurRad="152400" dist="50800" dir="2700000">
              <a:srgbClr val="000000">
                <a:alpha val="55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5852160" y="566928"/>
            <a:ext cx="384048" cy="256032"/>
          </a:xfrm>
          <a:prstGeom prst="rect">
            <a:avLst>
              <a:gd name="adj" fmla="val 14286"/>
            </a:avLst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852160" y="566928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852160" y="877824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Organigrama Organizacional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5852160" y="1536192"/>
            <a:ext cx="2971800" cy="0"/>
          </a:xfrm>
          <a:prstGeom prst="line">
            <a:avLst/>
          </a:prstGeom>
          <a:noFill/>
          <a:ln w="19050">
            <a:solidFill>
              <a:srgbClr val="4ADE8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852160" y="1645920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Estructura jerárquica visual de la organización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852160" y="2304288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Relación entre jefes inmediatos y colaboradores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852160" y="2962656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Navegación interactiva por niveles y departamentos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852160" y="3621024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Exportable para reportes de recursos humanos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pic>
        <p:nvPicPr>
          <p:cNvPr id="3" name="Image 0" descr="C:\Users\JoseRamonEstradaRend\AppData\Roaming\Claude\local-agent-mode-sessions\skills-plugin\d7d799c7-c68d-4735-9f18-5020fbbe8e77\246afd61-2015-4905-b7d3-2bf63e539570\skills\pptx\screenshots\10_empleado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502920"/>
            <a:ext cx="5303520" cy="4023360"/>
          </a:xfrm>
          <a:prstGeom prst="rect">
            <a:avLst/>
          </a:prstGeom>
          <a:effectLst>
            <a:outerShdw sx="100000" sy="100000" kx="0" ky="0" algn="bl" rotWithShape="0" blurRad="152400" dist="50800" dir="2700000">
              <a:srgbClr val="000000">
                <a:alpha val="55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5852160" y="566928"/>
            <a:ext cx="384048" cy="256032"/>
          </a:xfrm>
          <a:prstGeom prst="rect">
            <a:avLst>
              <a:gd name="adj" fmla="val 14286"/>
            </a:avLst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852160" y="566928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852160" y="877824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Empleados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5852160" y="1536192"/>
            <a:ext cx="2971800" cy="0"/>
          </a:xfrm>
          <a:prstGeom prst="line">
            <a:avLst/>
          </a:prstGeom>
          <a:noFill/>
          <a:ln w="19050">
            <a:solidFill>
              <a:srgbClr val="4ADE8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852160" y="1645920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Alta, baja y modificación de empleados con control de roles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852160" y="2304288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Asignación de sucursal, grupo, horario y jefe inmediato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852160" y="2962656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Validación en tiempo real de correo único por colaborador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852160" y="3621024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Paginación y búsqueda avanzada para grandes volúmenes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pic>
        <p:nvPicPr>
          <p:cNvPr id="3" name="Image 0" descr="C:\Users\JoseRamonEstradaRend\AppData\Roaming\Claude\local-agent-mode-sessions\skills-plugin\d7d799c7-c68d-4735-9f18-5020fbbe8e77\246afd61-2015-4905-b7d3-2bf63e539570\skills\pptx\screenshots\08_horario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502920"/>
            <a:ext cx="5303520" cy="4023360"/>
          </a:xfrm>
          <a:prstGeom prst="rect">
            <a:avLst/>
          </a:prstGeom>
          <a:effectLst>
            <a:outerShdw sx="100000" sy="100000" kx="0" ky="0" algn="bl" rotWithShape="0" blurRad="152400" dist="50800" dir="2700000">
              <a:srgbClr val="000000">
                <a:alpha val="55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5852160" y="566928"/>
            <a:ext cx="384048" cy="256032"/>
          </a:xfrm>
          <a:prstGeom prst="rect">
            <a:avLst>
              <a:gd name="adj" fmla="val 14286"/>
            </a:avLst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852160" y="566928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852160" y="877824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Horarios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5852160" y="1536192"/>
            <a:ext cx="2971800" cy="0"/>
          </a:xfrm>
          <a:prstGeom prst="line">
            <a:avLst/>
          </a:prstGeom>
          <a:noFill/>
          <a:ln w="19050">
            <a:solidFill>
              <a:srgbClr val="4ADE8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852160" y="1645920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Configuración de horarios personalizados por puesto o empleado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852160" y="2304288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Definición de tolerancias de entrada/salida en minutos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852160" y="2962656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Horarios especiales con días de descanso configurables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852160" y="3621024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Asignación masiva a grupos de empleados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pic>
        <p:nvPicPr>
          <p:cNvPr id="3" name="Image 0" descr="C:\Users\JoseRamonEstradaRend\AppData\Roaming\Claude\local-agent-mode-sessions\skills-plugin\d7d799c7-c68d-4735-9f18-5020fbbe8e77\246afd61-2015-4905-b7d3-2bf63e539570\skills\pptx\screenshots\09_sucursal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502920"/>
            <a:ext cx="5303520" cy="4023360"/>
          </a:xfrm>
          <a:prstGeom prst="rect">
            <a:avLst/>
          </a:prstGeom>
          <a:effectLst>
            <a:outerShdw sx="100000" sy="100000" kx="0" ky="0" algn="bl" rotWithShape="0" blurRad="152400" dist="50800" dir="2700000">
              <a:srgbClr val="000000">
                <a:alpha val="55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5852160" y="566928"/>
            <a:ext cx="384048" cy="256032"/>
          </a:xfrm>
          <a:prstGeom prst="rect">
            <a:avLst>
              <a:gd name="adj" fmla="val 14286"/>
            </a:avLst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852160" y="566928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852160" y="877824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Sucursales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5852160" y="1536192"/>
            <a:ext cx="2971800" cy="0"/>
          </a:xfrm>
          <a:prstGeom prst="line">
            <a:avLst/>
          </a:prstGeom>
          <a:noFill/>
          <a:ln w="19050">
            <a:solidFill>
              <a:srgbClr val="4ADE8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852160" y="1645920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Alta y configuración de sucursales con datos de contacto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852160" y="2304288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Parámetros de GPS para validación de ubicación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852160" y="2962656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Asignación de horarios y grupos por sucursal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852160" y="3621024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Control de estado activo/inactivo de cada sede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pic>
        <p:nvPicPr>
          <p:cNvPr id="3" name="Image 0" descr="C:\Users\JoseRamonEstradaRend\AppData\Roaming\Claude\local-agent-mode-sessions\skills-plugin\d7d799c7-c68d-4735-9f18-5020fbbe8e77\246afd61-2015-4905-b7d3-2bf63e539570\skills\pptx\screenshots\11_puesto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502920"/>
            <a:ext cx="5303520" cy="4023360"/>
          </a:xfrm>
          <a:prstGeom prst="rect">
            <a:avLst/>
          </a:prstGeom>
          <a:effectLst>
            <a:outerShdw sx="100000" sy="100000" kx="0" ky="0" algn="bl" rotWithShape="0" blurRad="152400" dist="50800" dir="2700000">
              <a:srgbClr val="000000">
                <a:alpha val="55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5852160" y="566928"/>
            <a:ext cx="384048" cy="256032"/>
          </a:xfrm>
          <a:prstGeom prst="rect">
            <a:avLst>
              <a:gd name="adj" fmla="val 14286"/>
            </a:avLst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852160" y="566928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852160" y="877824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Puestos y Áreas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5852160" y="1536192"/>
            <a:ext cx="2971800" cy="0"/>
          </a:xfrm>
          <a:prstGeom prst="line">
            <a:avLst/>
          </a:prstGeom>
          <a:noFill/>
          <a:ln w="19050">
            <a:solidFill>
              <a:srgbClr val="4ADE8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852160" y="1645920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Catálogo de puestos con horario y área organizacional asignados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852160" y="2304288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Estructura de áreas departamentales configurable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852160" y="2962656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Vinculación directa con empleados para reportes precisos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852160" y="3621024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Base para filtrado y segmentación de comunicados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pic>
        <p:nvPicPr>
          <p:cNvPr id="3" name="Image 0" descr="C:\Users\JoseRamonEstradaRend\AppData\Roaming\Claude\local-agent-mode-sessions\skills-plugin\d7d799c7-c68d-4735-9f18-5020fbbe8e77\246afd61-2015-4905-b7d3-2bf63e539570\skills\pptx\screenshots\13_empres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502920"/>
            <a:ext cx="5303520" cy="4023360"/>
          </a:xfrm>
          <a:prstGeom prst="rect">
            <a:avLst/>
          </a:prstGeom>
          <a:effectLst>
            <a:outerShdw sx="100000" sy="100000" kx="0" ky="0" algn="bl" rotWithShape="0" blurRad="152400" dist="50800" dir="2700000">
              <a:srgbClr val="000000">
                <a:alpha val="55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5852160" y="566928"/>
            <a:ext cx="384048" cy="256032"/>
          </a:xfrm>
          <a:prstGeom prst="rect">
            <a:avLst>
              <a:gd name="adj" fmla="val 14286"/>
            </a:avLst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852160" y="566928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852160" y="877824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Empresa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5852160" y="1536192"/>
            <a:ext cx="2971800" cy="0"/>
          </a:xfrm>
          <a:prstGeom prst="line">
            <a:avLst/>
          </a:prstGeom>
          <a:noFill/>
          <a:ln w="19050">
            <a:solidFill>
              <a:srgbClr val="4ADE8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852160" y="1645920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Datos corporativos y de contacto centralizados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852160" y="2304288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Logo e identidad visual de la organización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852160" y="2962656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Parámetros globales del sistema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852160" y="3621024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Gestión de múltiples corporativos desde una sola instancia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pic>
        <p:nvPicPr>
          <p:cNvPr id="3" name="Image 0" descr="C:\Users\JoseRamonEstradaRend\AppData\Roaming\Claude\local-agent-mode-sessions\skills-plugin\d7d799c7-c68d-4735-9f18-5020fbbe8e77\246afd61-2015-4905-b7d3-2bf63e539570\skills\pptx\screenshots\14_anuncio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502920"/>
            <a:ext cx="5303520" cy="4023360"/>
          </a:xfrm>
          <a:prstGeom prst="rect">
            <a:avLst/>
          </a:prstGeom>
          <a:effectLst>
            <a:outerShdw sx="100000" sy="100000" kx="0" ky="0" algn="bl" rotWithShape="0" blurRad="152400" dist="50800" dir="2700000">
              <a:srgbClr val="000000">
                <a:alpha val="55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5852160" y="566928"/>
            <a:ext cx="384048" cy="256032"/>
          </a:xfrm>
          <a:prstGeom prst="rect">
            <a:avLst>
              <a:gd name="adj" fmla="val 14286"/>
            </a:avLst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852160" y="566928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852160" y="877824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Comunicados y Anuncios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5852160" y="1536192"/>
            <a:ext cx="2971800" cy="0"/>
          </a:xfrm>
          <a:prstGeom prst="line">
            <a:avLst/>
          </a:prstGeom>
          <a:noFill/>
          <a:ln w="19050">
            <a:solidFill>
              <a:srgbClr val="4ADE8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852160" y="1645920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Editor visual con soporte de imágenes y botones de acción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852160" y="2304288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Segmentación por grupos, áreas o personas específicas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852160" y="2962656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Programación de publicación y fecha de vencimiento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852160" y="3621024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Panel lateral visible en tiempo real para todos los colaboradores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321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KronOS</a:t>
            </a:r>
            <a:pPr indent="0" marL="0">
              <a:buNone/>
            </a:pPr>
            <a:r>
              <a:rPr lang="en-US" sz="3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vs  </a:t>
            </a:r>
            <a:pPr indent="0" marL="0">
              <a:buNone/>
            </a:pPr>
            <a:r>
              <a:rPr lang="en-US" sz="32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RUNAHR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11480" y="749808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Comparativa de beneficios para la operación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3840480"/>
        </p:xfrm>
        <a:graphic>
          <a:graphicData uri="http://schemas.openxmlformats.org/drawingml/2006/table">
            <a:tbl>
              <a:tblPr/>
              <a:tblGrid>
                <a:gridCol w="2011680"/>
                <a:gridCol w="3200400"/>
                <a:gridCol w="32004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Característica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KronOS 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871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RUNAHR 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 de empleados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Autogestión inmediata (&lt;5 min)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871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Requiere soporte externo (≈3 hrs)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Disponibilidad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99.9% SLA en AWS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871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Afectada por actualizaciones sin aviso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 biométrico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GPS + foto, 4 registros diarios máx.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871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Ilimitado, genera registros erróneos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Comunicación al usuario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Notificaciones en plataforma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871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comunicación de cambios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Soporte de incidencias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Mesa de ayuda interna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871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Tickets externos, 97 reportados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de nómina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Datos precisos y exportables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871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Registros no confiables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Costo de soporte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Incluido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871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hr/ticket × 97 tickets = 97 hrs perdidas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 de roles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 admin, admin, empleado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871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A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01168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Costos en AWS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Estimación mensual para 300 usuarios · Región us-east-1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2743200" cy="3108960"/>
          </a:xfrm>
          <a:prstGeom prst="rect">
            <a:avLst>
              <a:gd name="adj" fmla="val 2667"/>
            </a:avLst>
          </a:prstGeom>
          <a:solidFill>
            <a:srgbClr val="1E2A45"/>
          </a:solidFill>
          <a:ln w="12700">
            <a:solidFill>
              <a:srgbClr val="60A5F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14300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☁️  Infraestructura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1572768"/>
            <a:ext cx="2468880" cy="0"/>
          </a:xfrm>
          <a:prstGeom prst="line">
            <a:avLst/>
          </a:prstGeom>
          <a:noFill/>
          <a:ln w="12700">
            <a:solidFill>
              <a:srgbClr val="60A5F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691640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t3.medium (backend)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1929384"/>
            <a:ext cx="2468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$30/mes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02920" y="2167128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MySQL db.t3.micro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2404872"/>
            <a:ext cx="2468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$15/mes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02920" y="2642616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(almacenamiento fotos)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2880360"/>
            <a:ext cx="2468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$5/mes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02920" y="3118104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CDN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" y="3355848"/>
            <a:ext cx="2468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$8/mes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639312"/>
            <a:ext cx="2560320" cy="347472"/>
          </a:xfrm>
          <a:prstGeom prst="rect">
            <a:avLst>
              <a:gd name="adj" fmla="val 10526"/>
            </a:avLst>
          </a:prstGeom>
          <a:solidFill>
            <a:srgbClr val="0B0F1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639312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Subtotal: ~$58/mes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246120" y="1005840"/>
            <a:ext cx="2743200" cy="3108960"/>
          </a:xfrm>
          <a:prstGeom prst="rect">
            <a:avLst>
              <a:gd name="adj" fmla="val 2667"/>
            </a:avLst>
          </a:prstGeom>
          <a:solidFill>
            <a:srgbClr val="1E2A45"/>
          </a:solidFill>
          <a:ln w="12700">
            <a:solidFill>
              <a:srgbClr val="60A5F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383280" y="114300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 Servicios Adicionales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383280" y="1572768"/>
            <a:ext cx="2468880" cy="0"/>
          </a:xfrm>
          <a:prstGeom prst="line">
            <a:avLst/>
          </a:prstGeom>
          <a:noFill/>
          <a:ln w="12700">
            <a:solidFill>
              <a:srgbClr val="818CF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83280" y="1691640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53 (DNS)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383280" y="1929384"/>
            <a:ext cx="2468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$1/mes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383280" y="2167128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(email notificaciones)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383280" y="2404872"/>
            <a:ext cx="2468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$3/mes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3383280" y="2642616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 (monitoreo)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383280" y="2880360"/>
            <a:ext cx="2468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$5/mes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383280" y="3118104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 (seguridad)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383280" y="3355848"/>
            <a:ext cx="2468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$10/mes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3337560" y="3639312"/>
            <a:ext cx="2560320" cy="347472"/>
          </a:xfrm>
          <a:prstGeom prst="rect">
            <a:avLst>
              <a:gd name="adj" fmla="val 10526"/>
            </a:avLst>
          </a:prstGeom>
          <a:solidFill>
            <a:srgbClr val="0B0F1A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37560" y="3639312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Subtotal: ~$19/mes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126480" y="1005840"/>
            <a:ext cx="2743200" cy="3108960"/>
          </a:xfrm>
          <a:prstGeom prst="rect">
            <a:avLst>
              <a:gd name="adj" fmla="val 2667"/>
            </a:avLst>
          </a:prstGeom>
          <a:solidFill>
            <a:srgbClr val="1E2A45"/>
          </a:solidFill>
          <a:ln w="12700">
            <a:solidFill>
              <a:srgbClr val="60A5F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263640" y="114300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 Inversión vs RUNAHR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263640" y="1572768"/>
            <a:ext cx="2468880" cy="0"/>
          </a:xfrm>
          <a:prstGeom prst="line">
            <a:avLst/>
          </a:prstGeom>
          <a:noFill/>
          <a:ln w="12700">
            <a:solidFill>
              <a:srgbClr val="4ADE8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63640" y="1691640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KronOS en AWS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263640" y="1929384"/>
            <a:ext cx="2468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$77/mes ($924/año)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263640" y="2167128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RUNAHR (licencia aprox)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263640" y="2404872"/>
            <a:ext cx="2468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$54,000/año (300 users)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6263640" y="2642616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perdido RUNAHR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263640" y="2880360"/>
            <a:ext cx="2468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 tickets = 97 hrs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6263640" y="3118104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Ahorro estimado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263640" y="3355848"/>
            <a:ext cx="2468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$53,076 / año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6217920" y="3639312"/>
            <a:ext cx="2560320" cy="347472"/>
          </a:xfrm>
          <a:prstGeom prst="rect">
            <a:avLst>
              <a:gd name="adj" fmla="val 10526"/>
            </a:avLst>
          </a:prstGeom>
          <a:solidFill>
            <a:srgbClr val="0B0F1A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17920" y="3639312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positivo desde el mes 1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365760" y="4315968"/>
            <a:ext cx="8412480" cy="475488"/>
          </a:xfrm>
          <a:prstGeom prst="rect">
            <a:avLst>
              <a:gd name="adj" fmla="val 7692"/>
            </a:avLst>
          </a:prstGeom>
          <a:solidFill>
            <a:srgbClr val="1E2A45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5760" y="4315968"/>
            <a:ext cx="8269468" cy="475488"/>
          </a:xfrm>
          <a:prstGeom prst="rect">
            <a:avLst>
              <a:gd name="adj" fmla="val 7692"/>
            </a:avLst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315968"/>
            <a:ext cx="8412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Ahorro del 98.3% vs RUNAHR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280160"/>
            <a:ext cx="9144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KronOS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0" y="260604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plataforma. Tu control. Tu tiempo.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464515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¿Preguntas?  ·  jose.estrada@previta.com.mx  ·  Previta Medical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818120" y="4617720"/>
            <a:ext cx="457200" cy="36576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9560" y="4562856"/>
            <a:ext cx="365760" cy="36576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01000" y="4507992"/>
            <a:ext cx="274320" cy="36576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1480" y="4617720"/>
            <a:ext cx="457200" cy="36576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4562856"/>
            <a:ext cx="365760" cy="36576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4507992"/>
            <a:ext cx="274320" cy="36576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Previta Medical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KronOS — Plataforma de Control de Asistencia</dc:title>
  <dc:subject>Presentación de Módulos KronOS 2026</dc:subject>
  <dc:creator>KronOS · Previta Medical</dc:creator>
  <cp:lastModifiedBy>KronOS · Previta Medical</cp:lastModifiedBy>
  <cp:revision>1</cp:revision>
  <dcterms:created xsi:type="dcterms:W3CDTF">2026-03-20T23:42:29Z</dcterms:created>
  <dcterms:modified xsi:type="dcterms:W3CDTF">2026-03-20T23:42:29Z</dcterms:modified>
</cp:coreProperties>
</file>