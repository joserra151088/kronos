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53328"/>
            <a:ext cx="12191695" cy="566928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2212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Ejecutivo de Costos en la Nube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Azure vs AWS para 300 usuarios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crecimiento anual escalable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236208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para Direccion | 18 de marzo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costos, crecimiento y recomendacion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2103120" cy="914400"/>
          </a:xfrm>
          <a:prstGeom prst="roundRect">
            <a:avLst>
              <a:gd name="adj" fmla="val 4000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43000"/>
            <a:ext cx="1883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base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" y="1664208"/>
            <a:ext cx="1883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inicial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697480" y="1051560"/>
            <a:ext cx="2103120" cy="914400"/>
          </a:xfrm>
          <a:prstGeom prst="roundRect">
            <a:avLst>
              <a:gd name="adj" fmla="val 4000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1143000"/>
            <a:ext cx="1883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por dia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07208" y="13624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07208" y="1664208"/>
            <a:ext cx="1883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por colaborador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983480" y="1051560"/>
            <a:ext cx="2103120" cy="914400"/>
          </a:xfrm>
          <a:prstGeom prst="roundRect">
            <a:avLst>
              <a:gd name="adj" fmla="val 4000"/>
            </a:avLst>
          </a:prstGeom>
          <a:solidFill>
            <a:srgbClr val="FFF3D6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3208" y="1143000"/>
            <a:ext cx="1883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por mes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93208" y="136245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93208" y="1664208"/>
            <a:ext cx="1883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mensual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269480" y="1051560"/>
            <a:ext cx="2377440" cy="914400"/>
          </a:xfrm>
          <a:prstGeom prst="roundRect">
            <a:avLst>
              <a:gd name="adj" fmla="val 4000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1143000"/>
            <a:ext cx="21579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por ano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79208" y="1362456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438,000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79208" y="1664208"/>
            <a:ext cx="21579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continua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11480" y="2331720"/>
            <a:ext cx="3566160" cy="2011680"/>
          </a:xfrm>
          <a:prstGeom prst="roundRect">
            <a:avLst>
              <a:gd name="adj" fmla="val 1818"/>
            </a:avLst>
          </a:prstGeom>
          <a:solidFill>
            <a:srgbClr val="F5F8FB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2423160"/>
            <a:ext cx="3346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" y="2679192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carga esperada es baja a media-baja.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539496" y="2898648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costo depende mas de la infraestructura minima.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539496" y="3118104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se requiere arquitectura compleja al inicio.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297680" y="2331720"/>
            <a:ext cx="3566160" cy="2011680"/>
          </a:xfrm>
          <a:prstGeom prst="roundRect">
            <a:avLst>
              <a:gd name="adj" fmla="val 1818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2423160"/>
            <a:ext cx="3346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25696" y="2679192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Rango estimado: 45 a 105 USD/mes.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4425696" y="2898648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alineado a gobierno corporativo.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4425696" y="3118104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Adecuado si la empresa usa Microsoft.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8183880" y="2331720"/>
            <a:ext cx="3566160" cy="2011680"/>
          </a:xfrm>
          <a:prstGeom prst="roundRect">
            <a:avLst>
              <a:gd name="adj" fmla="val 1818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2423160"/>
            <a:ext cx="33467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11896" y="2679192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Rango estimado: 25 a 48 USD/mes.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8311896" y="2898648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costo-beneficio para arranque.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8311896" y="3118104"/>
            <a:ext cx="3310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para piloto y validacion inicial.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411480" y="4617720"/>
            <a:ext cx="1129284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709160"/>
            <a:ext cx="11073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 ejecutiva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" y="4965192"/>
            <a:ext cx="11036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si el objetivo es costo minimo de arranque. Azure si el objetivo es integracion institucional, gobierno y crecimiento corporativo.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analisis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usada para dimensionar costo y crecimiento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65760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8872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1444752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300 usuarios activos.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39496" y="1664208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registros diarios por persona.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39496" y="1883664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y consulta todos los dias.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39496" y="2103120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Uso web continuo.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251960" y="1097280"/>
            <a:ext cx="365760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188720"/>
            <a:ext cx="3438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79976" y="1444752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React/Vite.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379976" y="1664208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Node/Express + Socket.IO.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379976" y="1883664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administrado.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379976" y="2103120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para archivos y evidencias.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092440" y="1097280"/>
            <a:ext cx="3611880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188720"/>
            <a:ext cx="33924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financieras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0456" y="1444752"/>
            <a:ext cx="3355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Montos aproximados.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220456" y="1664208"/>
            <a:ext cx="3355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Pueden variar por region y soporte.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8220456" y="1883664"/>
            <a:ext cx="3355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incluyen desarrollos futuros.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220456" y="2103120"/>
            <a:ext cx="3355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incluyen alta disponibilidad obligatoria.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11480" y="3429000"/>
            <a:ext cx="112928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520440"/>
            <a:ext cx="11073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Interpretacion correcta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" y="3776472"/>
            <a:ext cx="11036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decision no debe basarse solo en precio. Tambien deben valorarse gobierno, identidad corporativa, facilidad operativa, crecimiento, monitoreo y adopcion futura.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 objetivo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recomendado para operacion inicial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011680" cy="1325880"/>
          </a:xfrm>
          <a:prstGeom prst="roundRect">
            <a:avLst>
              <a:gd name="adj" fmla="val 2759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71600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1627632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Hosting estatico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30936" y="184708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CDN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30936" y="2066544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1280160"/>
            <a:ext cx="2103120" cy="1325880"/>
          </a:xfrm>
          <a:prstGeom prst="roundRect">
            <a:avLst>
              <a:gd name="adj" fmla="val 2759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37160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62656" y="1627632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Node/Express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2962656" y="1847088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REST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2962656" y="206654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257800" y="1280160"/>
            <a:ext cx="2148840" cy="1325880"/>
          </a:xfrm>
          <a:prstGeom prst="roundRect">
            <a:avLst>
              <a:gd name="adj" fmla="val 2759"/>
            </a:avLst>
          </a:prstGeom>
          <a:solidFill>
            <a:srgbClr val="FFF3D6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137160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85816" y="1627632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administrado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385816" y="1847088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Backups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385816" y="2066544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Escalado vertical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726680" y="1280160"/>
            <a:ext cx="2011680" cy="1325880"/>
          </a:xfrm>
          <a:prstGeom prst="roundRect">
            <a:avLst>
              <a:gd name="adj" fmla="val 2759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6408" y="1371600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54696" y="1627632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Adjuntos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854696" y="1847088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Evidencias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7854696" y="2066544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object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10012680" y="1280160"/>
            <a:ext cx="1691640" cy="1325880"/>
          </a:xfrm>
          <a:prstGeom prst="roundRect">
            <a:avLst>
              <a:gd name="adj" fmla="val 2759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22408" y="1371600"/>
            <a:ext cx="1472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40696" y="1627632"/>
            <a:ext cx="1435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10140696" y="1847088"/>
            <a:ext cx="1435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Salud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10140696" y="2066544"/>
            <a:ext cx="1435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Metricas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2920" y="3063240"/>
            <a:ext cx="11201400" cy="1828800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154680"/>
            <a:ext cx="10981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para direccion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" y="3410712"/>
            <a:ext cx="10945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sistema actual puede funcionar con una arquitectura pequena y controlada. El crecimiento esperado permite iniciar con una capa minima y aumentar capacidad en forma ordenada conforme suba el numero de usuarios, adjuntos y requerimientos de disponibilidad.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Azure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sugeridos y costo mensual aproximado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749040" cy="2743200"/>
          </a:xfrm>
          <a:prstGeom prst="roundRect">
            <a:avLst>
              <a:gd name="adj" fmla="val 1333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88720"/>
            <a:ext cx="3529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sugeridos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144475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Web Apps o App Service para frontend.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39496" y="1664208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Service para backend Node.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39496" y="188366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Database for MySQL Flexible Server.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39496" y="210312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Blob Storage para adjuntos.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39496" y="2322576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Monitor para observabilidad.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434840" y="1097280"/>
            <a:ext cx="3474720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88720"/>
            <a:ext cx="3255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base estimado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62856" y="1444752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15 a 35 USD/mes.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562856" y="1664208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MySQL: 25 a 45 USD/mes.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62856" y="1883664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1 a 5 USD/mes.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562856" y="2103120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y extras: 0 a 20 USD/mes.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562856" y="2322576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45 a 105 USD/mes.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183880" y="1097280"/>
            <a:ext cx="3520440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118872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mas formal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11896" y="1444752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backend y base.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311896" y="1664208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retencion y monitoreo.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311896" y="1883664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Mayor holgura operativa.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8311896" y="2103120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110 a 180 USD/mes.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11480" y="4160520"/>
            <a:ext cx="112928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4251960"/>
            <a:ext cx="11073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principal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" y="4507992"/>
            <a:ext cx="11036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se recomienda cuando la empresa prioriza integracion corporativa, gobierno, seguridad, control administrativo y alineacion con ecosistema Microsoft.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sugeridos y costo mensual aproximado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749040" cy="2743200"/>
          </a:xfrm>
          <a:prstGeom prst="roundRect">
            <a:avLst>
              <a:gd name="adj" fmla="val 1333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88720"/>
            <a:ext cx="3529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sugeridos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144475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+ CDN o frontend externo.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39496" y="1664208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Lightsail para backend.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39496" y="188366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Lightsail Managed Database o RDS pequeno.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39496" y="210312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 para adjuntos.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39496" y="2322576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CloudWatch para observabilidad.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434840" y="1097280"/>
            <a:ext cx="3474720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88720"/>
            <a:ext cx="3255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base estimado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62856" y="1444752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7 a 12 USD/mes.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562856" y="1664208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Base: 15 USD/mes.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62856" y="1883664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1 a 3 USD/mes.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562856" y="2103120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y extras: 1 a 18 USD/mes.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562856" y="2322576"/>
            <a:ext cx="3218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25 a 48 USD/mes.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183880" y="1097280"/>
            <a:ext cx="3520440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118872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mas formal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11896" y="1444752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CPU y memoria.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311896" y="1664208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Mayor DB y observabilidad.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311896" y="1883664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margen para crecimiento.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8311896" y="2103120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45 a 85 USD/mes.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11480" y="4160520"/>
            <a:ext cx="1129284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4251960"/>
            <a:ext cx="11073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principal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" y="4507992"/>
            <a:ext cx="11036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se recomienda cuando la prioridad es costo de arranque, rapidez de salida y una fase piloto financieramente eficiente.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y contras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cualitativo de decision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440680" cy="4023360"/>
          </a:xfrm>
          <a:prstGeom prst="roundRect">
            <a:avLst>
              <a:gd name="adj" fmla="val 909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8872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1444752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Pros: mejor integracion con Microsoft.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39496" y="1664208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Pros: buen camino para gobierno y cumplimiento.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39496" y="1883664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Pros: adecuado para operacion institucional.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39496" y="2103120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Contras: costo base normalmente mayor.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39496" y="2322576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Contras: el escalamiento formal eleva gasto mas rapido.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39496" y="2542032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Contras: menos eficiente para piloto de bajo costo.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263640" y="1097280"/>
            <a:ext cx="5440680" cy="4023360"/>
          </a:xfrm>
          <a:prstGeom prst="roundRect">
            <a:avLst>
              <a:gd name="adj" fmla="val 909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18872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1656" y="1444752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Pros: menor costo de entrada.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391656" y="1664208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Pros: muy buen costo-beneficio al inicio.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391656" y="1883664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Pros: buen rendimiento para esta escala.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391656" y="2103120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Contras: mayor complejidad al crecer fuera de Lightsail.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391656" y="2322576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Contras: mas curva de aprendizaje en IAM y arquitectura.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391656" y="2542032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Contras: menos natural si la empresa ya estandarizo Microsoft.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 de crecimiento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anual por usuarios y volumen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2743200" cy="1965960"/>
          </a:xfrm>
          <a:prstGeom prst="roundRect">
            <a:avLst>
              <a:gd name="adj" fmla="val 1860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88720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300 usuarios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1444752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1,200 registros por dia.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39496" y="1664208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36,000 registros por mes.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39496" y="1883664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438,000 registros por ano.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429000" y="1097280"/>
            <a:ext cx="2743200" cy="1965960"/>
          </a:xfrm>
          <a:prstGeom prst="roundRect">
            <a:avLst>
              <a:gd name="adj" fmla="val 1860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188720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500 usuarios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7016" y="1444752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 registros por dia.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3557016" y="1664208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60,000 registros por mes.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3557016" y="1883664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730,000 registros por ano.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446520" y="1097280"/>
            <a:ext cx="2743200" cy="1965960"/>
          </a:xfrm>
          <a:prstGeom prst="roundRect">
            <a:avLst>
              <a:gd name="adj" fmla="val 1860"/>
            </a:avLst>
          </a:prstGeom>
          <a:solidFill>
            <a:srgbClr val="FFF3D6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1188720"/>
            <a:ext cx="2523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1,000 usuarios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74536" y="1444752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4,000 registros por dia.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574536" y="1664208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120,000 registros por mes.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574536" y="1883664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1,460,000 registros por ano.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9464040" y="1097280"/>
            <a:ext cx="2240280" cy="1965960"/>
          </a:xfrm>
          <a:prstGeom prst="roundRect">
            <a:avLst>
              <a:gd name="adj" fmla="val 1860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1188720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2,000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92056" y="1444752"/>
            <a:ext cx="1984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8,000 por dia.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9592056" y="1664208"/>
            <a:ext cx="1984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240,000 por mes.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9592056" y="1883664"/>
            <a:ext cx="1984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2,920,000 por ano.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11480" y="3474720"/>
            <a:ext cx="11292840" cy="141732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566160"/>
            <a:ext cx="11073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" y="3822192"/>
            <a:ext cx="11036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Hasta 500 usuarios el sistema puede mantenerse en infraestructura pequena. El crecimiento de costo lo explican mas los adjuntos, logs, backups y disponibilidad que el volumen puro de registros.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escala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mensuales orientativos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440680" cy="3886200"/>
          </a:xfrm>
          <a:prstGeom prst="roundRect">
            <a:avLst>
              <a:gd name="adj" fmla="val 941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8872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1444752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300 usuarios: 45 a 105 USD/mes.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539496" y="1664208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usuarios: 50 a 115 USD/mes.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39496" y="1883664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1,000 usuarios: 80 a 150 USD/mes.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39496" y="2103120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 usuarios: 140 a 250 USD/mes.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39496" y="2322576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Operacion institucional: 110 a 380 USD/mes segun madurez.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263640" y="1097280"/>
            <a:ext cx="5440680" cy="3886200"/>
          </a:xfrm>
          <a:prstGeom prst="roundRect">
            <a:avLst>
              <a:gd name="adj" fmla="val 941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188720"/>
            <a:ext cx="5221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91656" y="1444752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300 usuarios: 25 a 48 USD/mes.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391656" y="1664208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usuarios: 30 a 55 USD/mes.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391656" y="1883664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1,000 usuarios: 45 a 85 USD/mes.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391656" y="2103120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 usuarios: 80 a 160 USD/mes.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391656" y="2322576"/>
            <a:ext cx="5184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Operacion institucional: 45 a 240 USD/mes segun madurez.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77B328"/>
          </a:solidFill>
          <a:ln w="12700">
            <a:solidFill>
              <a:srgbClr val="77B3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 final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420624"/>
            <a:ext cx="7772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sugerida por etapa de negocio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1645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520440" cy="2240280"/>
          </a:xfrm>
          <a:prstGeom prst="roundRect">
            <a:avLst>
              <a:gd name="adj" fmla="val 1633"/>
            </a:avLst>
          </a:prstGeom>
          <a:solidFill>
            <a:srgbClr val="EAF6D8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28016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y validacion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1536192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Elegir AWS.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30936" y="1755648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Menor costo de arranque.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30936" y="1975104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eficiencia financiera inicial.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30936" y="2194560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para probar adopcion real.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343400" y="1188720"/>
            <a:ext cx="3520440" cy="2240280"/>
          </a:xfrm>
          <a:prstGeom prst="roundRect">
            <a:avLst>
              <a:gd name="adj" fmla="val 1633"/>
            </a:avLst>
          </a:prstGeom>
          <a:solidFill>
            <a:srgbClr val="E6F0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28016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institucional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1416" y="1536192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Elegir Azure.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471416" y="1755648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alineacion corporativa.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471416" y="1975104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natural para gobierno y seguridad.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471416" y="2194560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Escalamiento formal mas ordenado.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188720"/>
            <a:ext cx="3520440" cy="2240280"/>
          </a:xfrm>
          <a:prstGeom prst="roundRect">
            <a:avLst>
              <a:gd name="adj" fmla="val 1633"/>
            </a:avLst>
          </a:prstGeom>
          <a:solidFill>
            <a:srgbClr val="FFF3D6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280160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produccion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11896" y="1536192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Migrar uploads a storage cloud.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311896" y="1755648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Desacoplar snapshot y consultas SQL.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8311896" y="1975104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Definir backups y monitoreo.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311896" y="2194560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Formalizar seguridad operativa.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1120140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931920"/>
            <a:ext cx="10981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para direccion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" y="4187952"/>
            <a:ext cx="10945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Kronos es viable para 300 usuarios con un costo controlado. La eleccion entre Azure y AWS debe definirse por estrategia corporativa, no por limitacion tecnica.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10607040" y="6455664"/>
            <a:ext cx="914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77B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puede salir a nube con una inversion moderada y crecer de forma ordenada. AWS maximiza la eficiencia de arranque; Azure maximiza alineacion institucional y gobierno.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4389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preparado para Direccion | Marzo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Previta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 - Analisis Ejecutivo de Costos Cloud</dc:title>
  <dc:subject>Comparativo ejecutivo Azure vs AWS</dc:subject>
  <dc:creator>OpenAI Codex</dc:creator>
  <cp:lastModifiedBy>OpenAI Codex</cp:lastModifiedBy>
  <cp:revision>1</cp:revision>
  <dcterms:created xsi:type="dcterms:W3CDTF">2026-03-18T14:49:51Z</dcterms:created>
  <dcterms:modified xsi:type="dcterms:W3CDTF">2026-03-18T14:49:51Z</dcterms:modified>
</cp:coreProperties>
</file>